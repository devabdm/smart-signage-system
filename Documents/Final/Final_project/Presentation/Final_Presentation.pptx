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73" r:id="rId5"/>
    <p:sldId id="274" r:id="rId6"/>
    <p:sldId id="278" r:id="rId7"/>
    <p:sldId id="279" r:id="rId8"/>
    <p:sldId id="326" r:id="rId9"/>
    <p:sldId id="327" r:id="rId10"/>
    <p:sldId id="328" r:id="rId11"/>
    <p:sldId id="330" r:id="rId12"/>
    <p:sldId id="331" r:id="rId13"/>
    <p:sldId id="332" r:id="rId14"/>
    <p:sldId id="280" r:id="rId15"/>
    <p:sldId id="281" r:id="rId16"/>
    <p:sldId id="282" r:id="rId17"/>
    <p:sldId id="286" r:id="rId18"/>
    <p:sldId id="289" r:id="rId19"/>
    <p:sldId id="290" r:id="rId20"/>
    <p:sldId id="292" r:id="rId21"/>
    <p:sldId id="295" r:id="rId22"/>
    <p:sldId id="297" r:id="rId23"/>
    <p:sldId id="299" r:id="rId24"/>
    <p:sldId id="301" r:id="rId25"/>
    <p:sldId id="325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2" r:id="rId35"/>
    <p:sldId id="313" r:id="rId36"/>
    <p:sldId id="314" r:id="rId37"/>
    <p:sldId id="317" r:id="rId38"/>
    <p:sldId id="319" r:id="rId39"/>
    <p:sldId id="322" r:id="rId40"/>
    <p:sldId id="26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2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FF514-0BDE-448E-B5CD-044451D5B8BD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12245-B84A-4519-9D88-BAC59B1A0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0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73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85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36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4B22D-7C5D-0BEA-092E-4C90FF42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FB1DF-69C3-6B9F-1E3B-3B1135D4F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F3F22-187D-90FF-3F28-CD4CD489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0904A-9A0B-6AD1-6609-C12D6DF7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9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48FA9-379D-C48B-BB3C-41C0E75E5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8F8F8-7E21-2677-7019-C7042CDB3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F2316-3010-E2B4-8FBA-F1130829B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DFA59-876C-331A-4912-0F41621A7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883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AD873-5301-EA6B-68DF-C463BFC6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30272-478B-3FC2-23E4-771EF2EDF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56826-462B-BC7C-7626-D77D0A84B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394B3-88F6-29B8-0807-CCEA091C1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20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D61D1-0A69-CBB4-AEF9-354B47ED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EA182-6096-C7FC-9523-32D223ECC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6C3D9-0481-7425-002D-7D9E6D218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BCDB6-9F5F-AB34-D009-72C985764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77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B8A79-FBB9-9791-FCF3-7AF11151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50698-A340-237F-8C4B-9E285B6EE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D0B4A-BCF9-06D4-8D8B-028D24E85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5300D-5935-213E-50DA-44005E71A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57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770EA-0682-0D51-E092-9B668ABDF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441A6-4C8D-B100-0C9E-0B4E95320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4FC97-87F2-0B4F-F199-44C0A9CAD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2E2DD-D0FF-7B9E-8A6A-CC2DA256C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920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32A5-6AEE-C31A-65FC-4951C3C4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A85D0-41CA-1956-ADF9-033634289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D4406-9961-B0AF-1F0A-619041B91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AA1D2-C445-6AE9-1F14-E6A041F1D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56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DB11-9D85-3648-F80B-F63A43B22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CEC12-2CC7-BE12-5EB8-8BA7488B47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F6EB1-BE9F-37D9-36F0-F3E4D563D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A42E5-5DE6-17B2-14BB-4ED26180A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60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0DEF0-DAF0-47AB-A033-CA8AC79C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21D15-8115-1009-46CA-BBE1F9EE0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E64B7-B42E-D93A-040C-977565C03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BC0B2-4C49-8880-EC04-A6BD628B8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60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D1EAB-3C7F-48DD-009D-C9B08A65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DBF09-69DB-FEEB-5963-CEF5EDFCF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18D09-0C04-1432-CB94-81EF9BF9A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AAE9E-E51A-49FB-9319-32EEB5748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9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1FFF0-4F69-E662-AF7D-00720829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49EEF-652A-1336-9D1C-E5A39944E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1A243A-A9B4-D1D2-B7B6-5A4C7BEEB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F1D68-FAAC-D193-8E62-3853E6752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63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F1CD-6310-9217-52C3-BEB8CE82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E51B6-3782-BADD-0D98-367FCFBCA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2B5D4-6F67-F090-3D9F-C77279669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8E51B-0952-B050-66B2-8A89CF115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75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8371-3341-BD4E-978D-7C6EA63D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A4A50-574F-852A-631A-70BE0865A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6858F-AAFC-CD08-A8F4-C62104C98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4900F-9E38-683B-3AE3-06433148D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29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339E-C6CF-B3AC-BE22-2E1BA31D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16B9B-C397-C017-4985-A4EF3BBA3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28071-0721-5116-F39C-F4FF69866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FD99E-F00D-CA24-2F27-B8587EB61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20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55E4C-D9F0-DA63-A0EB-4019EA719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613C1-CFBF-29BC-6E92-F5066B461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29D76-C181-5A3F-62B8-72018666E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E589B-E829-2A60-A4FE-31F0D451D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66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984F-60A8-CC31-7310-6ADEE47E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9C2D2-73C4-79D7-BCD5-A3291311D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24270-DC14-ED43-1D98-553EF4029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D0486-E468-92F1-0E01-B1C5D1E80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34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86D2-5606-CAD3-ADB0-7E57D4C6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E57C7-E692-CC49-1CE5-D9B8827D3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52A44-21C0-F7E1-D152-6D7E7DF7C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95705-8C3A-7A06-BCC5-3AE5893FF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146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9E1BA-CD18-A938-7BEF-F8A5D7A3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675B8-563E-6148-49A9-F47E6B7C7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96EE0C-9DEA-D014-0C20-6E8DEF138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66DBD-5E03-0741-4ACC-CDE82D79D4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624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10EB4-51D5-D0B0-3482-F1FEE3F6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1E46C6-9C7A-D780-AA12-9480C24F4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861DE-C331-457F-9852-26FA9CB7B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A2D9C-095E-93EF-B854-E29B27997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48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B108D-6F3C-EF68-0771-9B64C8D1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B4A64-EE0B-1A56-CDFD-984415CF0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86370-2461-043A-1E26-D501CE7B9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268A9-6CD6-3997-991C-732D80920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534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435DA-F397-7B7A-BF23-F76B248E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48533-013A-F8B8-7BEA-A8056D56C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65C6C-9BD6-7C67-A495-F4C3A7D253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53269-AA85-14FB-D5C3-BB31C444F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978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B70B-BE9D-51BD-1BC6-D695F2BC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8D60D-E076-C911-5EFB-C924846FA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E305F-A23F-B26E-64A0-29B4258AB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862FE-70A6-94B2-E161-53E1AC77C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069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F74A-084B-76FA-A274-8FD20E56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A4DB4-2305-1B32-1528-3440815F7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1F138-D57A-F32B-FB4A-278EBAC86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56EB1-1EF0-7E48-B015-5CDFCC131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007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E102-5979-A2F3-9AF0-3453C7200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09C3D-4F05-C58E-2BE9-172F0D6CF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BBE2A-12CE-B218-210F-4F547EBE0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FC11D-818B-F609-425C-4E07A9AD6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763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ABDF-35A8-86F7-336E-CC4452A3D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B9391-6004-1408-231C-23D6EE50A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BFC0F-DBDF-1A4B-43EC-5D141C664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23234-2D93-9986-EB1C-C8204D10F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175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6C9A3-D617-92CD-46E1-059FE2BA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EDFC2-BC42-3243-5795-A2A8014E8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18663-1C41-6D94-07B3-E6DF96B43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A0600-0373-3C18-A08C-4E1C2AD9A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370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71352-D2B5-59BD-33F1-81BAEB1A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D8604-5463-EAD6-D460-7D000E06D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965DA-5D86-09F8-E07B-4AB0C0B86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DCA2C-283C-6CB8-CA46-88BF5FA06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846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33A6-4C6C-0782-BBD3-5B8A2EC2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24632-B347-2FB7-F688-8781BCCA6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FA779-CF28-5797-F306-1B8B20940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1823F-4440-0721-1CA3-78D092633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33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7B32-233D-B9F7-DEE2-BFC760B6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93472-96D0-5325-084F-3532145EE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93C49-1F71-066A-8C86-6FA21F4B6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6103-3B6E-CB98-1A04-3DC17F163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080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22A5-AD85-B432-8273-C904CE1F5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930CD-912D-4908-1B71-48F0C6891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A9191-C0D6-4216-8F51-1A3B09487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14A64-6839-E7B0-5C70-E789B833E6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845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443B-D7A6-6F41-4C8C-716995B20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92674-C80C-1A02-CEFE-ACF4C4F7C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9C6DB-A7AE-232B-24AF-C72529953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7DDA4-2ABC-06AE-9486-BA32B0C67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50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0DFA2-EE5C-4AF6-C942-064EA5CA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8E76EE-C92E-DB57-244F-AB1C81CB9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21395A-DBB0-EB7C-07B7-E4875DCB6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DE32C-9198-03E2-FC3B-4881CF2A8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895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ACF31-999E-0E77-8A4A-3C54F86C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C20BA-1C85-1EE3-5F80-A83405BAC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3BEDB-2AAA-DEA1-1CCA-91CD2A73F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58BA3-8A1B-AB16-E124-90F2ED620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624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9E4C6-B048-1338-93CD-766488EB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533C8-67C4-587F-EAE5-3F0E15075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8E242-B8A5-443C-E70E-0AE1BCDF5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C472F-9171-39D1-4A85-81B4FA1C1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370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0586-35CC-21D7-4A02-EB9202D4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13EB0-2D2A-AE13-4C3C-E1FBC09BC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B59FB0-18D5-AB9F-AFAA-C9CA1B1DD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F4DB4-1C77-1E48-4C14-1C9C7EF4B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524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436C-E9DB-285F-471C-BCF93D06B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43B1A-0E41-B7AD-41DE-C7FE5E789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21550-79F2-8433-1A56-80A99EE77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F535A-2183-DB36-CF5C-AFF6B7FC3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12245-B84A-4519-9D88-BAC59B1A0E2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83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6C60B-FB42-8182-1AA6-077285D17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DFB99-538A-5F2C-3AD0-21C394F10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6D97C-A380-A097-A9D2-6BEAE3F9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75E31-6574-1854-0D57-0D2618CF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6C31F-3AFA-1CCC-2063-6275FB89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5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0A3-2992-1053-818F-7498AB78B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73F18-4545-7650-E36C-12020B395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56412-4D1A-EAA2-D181-C4F4AD92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5018A-9DCF-DCB6-CAD3-4322C1BA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8D42E-9F9D-ECDD-B51E-04EB36BC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9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2F22D-F3EC-E0E9-B846-C4C0C4B79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B950C-A796-1347-4985-378BCDF82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EFDD2-D673-B42F-17C5-012F3D59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EB31-B632-13E5-6813-41A6F7E8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A037D-A913-773C-C07D-EF19CFF9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9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2426-B014-4BC6-8800-92B6E2279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62D5D-F47B-3002-DDFF-761223260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F6511-DDD2-9AC0-2DBD-DE5977417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4666E-DF7F-42E6-4737-E1E467EC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9A31B-9D51-D652-22EE-B9DFF1A86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1A979-016C-A1F5-3F5E-10A4F531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2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69F19-9A67-ED96-5BDE-BC59C35C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239F9-39E2-F20E-BC12-30D02B03E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314AD6-AB2F-47C8-21C1-32A479D3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43B14-BF74-3CB0-5A8F-C8FC298E46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AE359-E221-8C55-DC5E-8CD1AFDA2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19E1D9-2885-8CD8-67F6-D61EFFFF7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726AE7-A2E9-8F44-1698-D62C22B2F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4B93F2-EC2C-6EA6-3054-26E1F0E1C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8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114BD-7EB5-CBFB-BD74-A87D2EF4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64B24-DCA3-8E87-44B2-EAF520534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88BEB-7E77-0AC2-FF6F-61360D98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DC7-FEFD-9BA9-DEBF-6B7491F0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9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4E698-D551-F7AF-7CBC-55AD154F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A8CDC9-222B-1F9D-D7B4-0D66AA2E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08CFC-AFCD-6729-E660-FBA53414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4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E156-6735-0F2B-3F00-E4780637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7412-25AC-6A5F-4FA0-E4ED5198E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219E9-CB3C-9356-9491-1047678B3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4738F-2928-5D55-6288-88266532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BC7C-76DD-6D50-A977-D9CC783E6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A83D5-781E-7D35-D8B0-CD2124CC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02A1-0022-5449-9E30-F0726258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E69722-1F07-681E-46B8-FA18A8DF8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FC1D2-5310-8389-F93D-656452287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C2BD4-C6E5-C7C9-9208-349B4151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403BB-AD85-355F-488F-96BCE6229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95BFE-5D32-7CF3-1978-D00EAC94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3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8556-1C77-8559-CDAC-5D3C7D02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09476-ADFC-8D00-437D-151FCC97D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462E7-8B63-2E97-5C32-34A5BF8B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44A23-229E-CE33-3152-9977154C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8585A-7B92-1053-BEFB-98974C330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7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0C998-99B7-5AE1-115D-1F3A53EE1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BA4F0-716C-4E1F-9036-A9C5BFB8E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BC834-2961-2444-9074-F9AC29F0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D7803-2C74-9D4B-839C-86C9924CA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6FFD5-2258-8F87-AE2D-BCD582C2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9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0211A-42C8-01EF-6CB3-D3DAEFE2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AC706-D736-F710-E129-4AE7FBF49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63C58-7266-477D-501C-0BE74F2FD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0B2C2-4E67-4219-B0AB-D8C8EC34745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DEC0E-F572-4F14-D5E5-A0214F48E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0B899-BA11-68CC-FE38-43EF0B0C2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29A78-C1FF-4E2D-B830-52B795834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38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s | Woldia University">
            <a:extLst>
              <a:ext uri="{FF2B5EF4-FFF2-40B4-BE49-F238E27FC236}">
                <a16:creationId xmlns:a16="http://schemas.microsoft.com/office/drawing/2014/main" id="{E021A156-040F-E69A-0274-2874D43DA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030" y="508434"/>
            <a:ext cx="3703497" cy="218353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195046-E3AA-CB88-8FC6-26B84FB8792E}"/>
              </a:ext>
            </a:extLst>
          </p:cNvPr>
          <p:cNvSpPr txBox="1"/>
          <p:nvPr/>
        </p:nvSpPr>
        <p:spPr>
          <a:xfrm>
            <a:off x="5259573" y="386278"/>
            <a:ext cx="6096000" cy="2427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WOLDIA UNIVERSITY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INSTITUTE OF TECHNOLOGY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SCHOOL OF ELECTRICAL AND COMPUTER ENGINEERING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COMPUTER ENGINEERING STREAM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4C44E-EF70-4BFE-E561-49EAD0FDD99D}"/>
              </a:ext>
            </a:extLst>
          </p:cNvPr>
          <p:cNvSpPr txBox="1"/>
          <p:nvPr/>
        </p:nvSpPr>
        <p:spPr>
          <a:xfrm>
            <a:off x="3292548" y="5021928"/>
            <a:ext cx="5606903" cy="106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ctr">
              <a:lnSpc>
                <a:spcPct val="150000"/>
              </a:lnSpc>
              <a:buFont typeface="+mj-lt"/>
              <a:buAutoNum type="arabicPeriod"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DAWIT BERHAN			WDU1304696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ctr">
              <a:lnSpc>
                <a:spcPct val="150000"/>
              </a:lnSpc>
              <a:buFont typeface="+mj-lt"/>
              <a:buAutoNum type="arabicPeriod"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CHEREKA WAKSHUM		WDU1300748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ctr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ARSEMA DANIEL		WDU1300391</a:t>
            </a:r>
            <a:endParaRPr lang="en-US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B3D5F0-8138-B25F-BB5A-F85610F77018}"/>
              </a:ext>
            </a:extLst>
          </p:cNvPr>
          <p:cNvSpPr txBox="1"/>
          <p:nvPr/>
        </p:nvSpPr>
        <p:spPr>
          <a:xfrm>
            <a:off x="2100649" y="3326312"/>
            <a:ext cx="799070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TITLE: DESIGN AND IMPLEMENTATION OF SMART SIGNAGE SYSTEM FOR THE PURPOSE OF ORGANIZATIONAL INFORMATION DISCRIMINATION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18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7642-323F-B197-6E95-4A48430A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151"/>
          </a:xfrm>
        </p:spPr>
        <p:txBody>
          <a:bodyPr/>
          <a:lstStyle/>
          <a:p>
            <a:r>
              <a:rPr lang="en-US" b="1" dirty="0"/>
              <a:t>Abstract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729D2E-6952-F87E-4939-3F4853500732}"/>
              </a:ext>
            </a:extLst>
          </p:cNvPr>
          <p:cNvSpPr txBox="1"/>
          <p:nvPr/>
        </p:nvSpPr>
        <p:spPr>
          <a:xfrm>
            <a:off x="838199" y="1372277"/>
            <a:ext cx="9627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</a:rPr>
              <a:t>Problem</a:t>
            </a: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4218C-CCFC-C75A-822C-CAD51E570FD9}"/>
              </a:ext>
            </a:extLst>
          </p:cNvPr>
          <p:cNvSpPr txBox="1"/>
          <p:nvPr/>
        </p:nvSpPr>
        <p:spPr>
          <a:xfrm>
            <a:off x="937053" y="5716554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Verified with 55+ tests &amp; hardware validation</a:t>
            </a:r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</a:rPr>
              <a:t>60% cost reduction over 5 years</a:t>
            </a:r>
            <a:endParaRPr 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948AA2-B5B6-6622-826D-BEEB9094C0EE}"/>
              </a:ext>
            </a:extLst>
          </p:cNvPr>
          <p:cNvSpPr txBox="1"/>
          <p:nvPr/>
        </p:nvSpPr>
        <p:spPr>
          <a:xfrm>
            <a:off x="838199" y="5254890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</a:rPr>
              <a:t>Results</a:t>
            </a:r>
            <a:endParaRPr lang="en-US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F89FA9-C478-7115-35AF-684A4B63FBE8}"/>
              </a:ext>
            </a:extLst>
          </p:cNvPr>
          <p:cNvSpPr txBox="1"/>
          <p:nvPr/>
        </p:nvSpPr>
        <p:spPr>
          <a:xfrm>
            <a:off x="838199" y="3732863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</a:rPr>
              <a:t>Arduino sensor bridge + Raspberry Pi edge nodes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</a:rPr>
              <a:t>Adaptive brightness &amp; occupancy detection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</a:rPr>
              <a:t>Emergency broadcast via hardware trigger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</a:rPr>
              <a:t>Node.js backend + React frontend with RBAC</a:t>
            </a:r>
            <a:endParaRPr 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ACF48A-B133-5668-F59F-3720F3F36BFA}"/>
              </a:ext>
            </a:extLst>
          </p:cNvPr>
          <p:cNvSpPr txBox="1"/>
          <p:nvPr/>
        </p:nvSpPr>
        <p:spPr>
          <a:xfrm>
            <a:off x="838199" y="3372042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effectLst/>
              </a:rPr>
              <a:t>Solution</a:t>
            </a:r>
            <a:endParaRPr lang="en-US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4771FB-4655-0AE1-A199-DB72C49D9D5C}"/>
              </a:ext>
            </a:extLst>
          </p:cNvPr>
          <p:cNvSpPr txBox="1"/>
          <p:nvPr/>
        </p:nvSpPr>
        <p:spPr>
          <a:xfrm>
            <a:off x="838199" y="1749172"/>
            <a:ext cx="100481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</a:rPr>
              <a:t>Fixed brightness, no ambient adaptation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</a:rPr>
              <a:t>Independent node control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</a:rPr>
              <a:t>Unauthenticated IoT content delivery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effectLst/>
              </a:rPr>
              <a:t>High licensing costs ($1,000+/display)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5893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3C177-ED9B-CFE4-AD81-F652996E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207B2-F470-BE41-EC50-3A032E8AB3CA}"/>
              </a:ext>
            </a:extLst>
          </p:cNvPr>
          <p:cNvSpPr txBox="1"/>
          <p:nvPr/>
        </p:nvSpPr>
        <p:spPr>
          <a:xfrm>
            <a:off x="838200" y="1528799"/>
            <a:ext cx="1062887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Background</a:t>
            </a:r>
          </a:p>
          <a:p>
            <a:r>
              <a:rPr lang="en-US" sz="2400" dirty="0"/>
              <a:t>Digital signage is essential for modern organizations to disseminate information across campuses, hospitals, and public spaces. However, existing solutions suffer from critical gaps: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Energy waste</a:t>
            </a:r>
            <a:r>
              <a:rPr lang="en-US" sz="2400" dirty="0"/>
              <a:t> from fixed-brightness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Disconnected, unmanaged display nodes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Unauthenticated IoT device communication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High total cost of ownership</a:t>
            </a:r>
            <a:r>
              <a:rPr lang="en-US" sz="2400" dirty="0"/>
              <a:t> from commercial licensing</a:t>
            </a:r>
          </a:p>
        </p:txBody>
      </p:sp>
    </p:spTree>
    <p:extLst>
      <p:ext uri="{BB962C8B-B14F-4D97-AF65-F5344CB8AC3E}">
        <p14:creationId xmlns:p14="http://schemas.microsoft.com/office/powerpoint/2010/main" val="3819329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653F8-4D34-A6B2-7E62-22554445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7BE4F-1573-0C19-559C-262784802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8092D-DBA1-511D-CC9B-7CBFB36D166E}"/>
              </a:ext>
            </a:extLst>
          </p:cNvPr>
          <p:cNvSpPr txBox="1"/>
          <p:nvPr/>
        </p:nvSpPr>
        <p:spPr>
          <a:xfrm>
            <a:off x="838200" y="1528799"/>
            <a:ext cx="106288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Institution:</a:t>
            </a:r>
            <a:r>
              <a:rPr lang="en-US" sz="2400" dirty="0"/>
              <a:t> </a:t>
            </a:r>
            <a:r>
              <a:rPr lang="en-US" sz="2400" dirty="0" err="1"/>
              <a:t>Woldia</a:t>
            </a:r>
            <a:r>
              <a:rPr lang="en-US" sz="2400" dirty="0"/>
              <a:t> University, Institute of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Scope:</a:t>
            </a:r>
            <a:r>
              <a:rPr lang="en-US" sz="2400" dirty="0"/>
              <a:t> Campus-wide deployment architecture for 130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Prototype:</a:t>
            </a:r>
            <a:r>
              <a:rPr lang="en-US" sz="2400" dirty="0"/>
              <a:t> 2 edge nodes (Debian 13 laptops) + Arduino sensor bridge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Duration:</a:t>
            </a:r>
            <a:r>
              <a:rPr lang="en-US" sz="2400" dirty="0"/>
              <a:t> 8-month iterative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1137451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9AD6-36B9-43AE-0274-0A361E46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3F562-15B2-0A88-96F8-7DEF340B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1E668-AAE0-9152-2DBA-D89D931280B7}"/>
              </a:ext>
            </a:extLst>
          </p:cNvPr>
          <p:cNvSpPr txBox="1"/>
          <p:nvPr/>
        </p:nvSpPr>
        <p:spPr>
          <a:xfrm>
            <a:off x="838200" y="1516441"/>
            <a:ext cx="9220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P1: Energy Waste from Fixed-Brightness Operation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P2: Disconnected, Unmanaged Display Nodes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P3: Security Gap in Unauthenticated IoT Communication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P4: High Total Cost of Ownership</a:t>
            </a:r>
          </a:p>
        </p:txBody>
      </p:sp>
      <p:pic>
        <p:nvPicPr>
          <p:cNvPr id="3" name="Picture">
            <a:extLst>
              <a:ext uri="{FF2B5EF4-FFF2-40B4-BE49-F238E27FC236}">
                <a16:creationId xmlns:a16="http://schemas.microsoft.com/office/drawing/2014/main" id="{0F7E9E26-2CF2-AC1E-9B70-6B17AA0B2D9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2936" y="4718996"/>
            <a:ext cx="3651421" cy="201594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4" name="Picture">
            <a:extLst>
              <a:ext uri="{FF2B5EF4-FFF2-40B4-BE49-F238E27FC236}">
                <a16:creationId xmlns:a16="http://schemas.microsoft.com/office/drawing/2014/main" id="{CCB1897C-F868-84F9-A954-B47D1692462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3240309"/>
            <a:ext cx="5334000" cy="248666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02624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9ECD-2C79-05A6-8D94-70065489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90B40-D744-4D52-5EC4-43002E593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74305D-125E-4062-42FA-C6962A59F035}"/>
              </a:ext>
            </a:extLst>
          </p:cNvPr>
          <p:cNvSpPr txBox="1"/>
          <p:nvPr/>
        </p:nvSpPr>
        <p:spPr>
          <a:xfrm>
            <a:off x="838200" y="1528799"/>
            <a:ext cx="1062887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General Objective</a:t>
            </a:r>
          </a:p>
          <a:p>
            <a:endParaRPr lang="en-US" sz="2800" b="1" dirty="0"/>
          </a:p>
          <a:p>
            <a:r>
              <a:rPr lang="en-US" sz="2800" dirty="0"/>
              <a:t>Design, implement, and validate an open-source Smart Digital Signage System that integrates environmental sensing, centralized content management with RBAC, real-time device command and control, live stream distribution, emergency broadcast with hardware trigger, and a hardened campus network.</a:t>
            </a:r>
          </a:p>
        </p:txBody>
      </p:sp>
    </p:spTree>
    <p:extLst>
      <p:ext uri="{BB962C8B-B14F-4D97-AF65-F5344CB8AC3E}">
        <p14:creationId xmlns:p14="http://schemas.microsoft.com/office/powerpoint/2010/main" val="220417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3CC3D-998E-D923-E4B9-2D62315E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B7D2-BA30-65EB-0517-87B2013F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093B0-7788-20C2-D5F6-463B0EC3864C}"/>
              </a:ext>
            </a:extLst>
          </p:cNvPr>
          <p:cNvSpPr txBox="1"/>
          <p:nvPr/>
        </p:nvSpPr>
        <p:spPr>
          <a:xfrm>
            <a:off x="838200" y="1528799"/>
            <a:ext cx="1062887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Specific Objectives</a:t>
            </a:r>
          </a:p>
          <a:p>
            <a:endParaRPr lang="en-US" sz="2800" b="1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Embedded sensing layer (motion + ambient light + emergency button) with adaptive brightness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Centralized full-stack CMS with RBAC and real-time device control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Live stream distribution (HLS, RTSP, YouTube, RTMP) at zero licensing cost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Dual player architecture (Anthias + MPV) with per-device backend selection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/>
              <a:t>Production-ready </a:t>
            </a:r>
            <a:r>
              <a:rPr lang="en-US" sz="2400" dirty="0"/>
              <a:t>campus network (10.20.0.0/22, dual-NIC Layer 3 isolation)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Emergency broadcast system with hardware trigger and group-wide override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Concurrency control: control locks, priority synchronization, deadlock prevention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Automated testing (backend + frontend E2E) and hardware verification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87732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DEF2-640B-E11B-A1D4-4D300C16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7CE6-8C06-8C18-BB14-330D6A2F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20B465-685D-34F5-FBF0-CB9E7E2E6021}"/>
              </a:ext>
            </a:extLst>
          </p:cNvPr>
          <p:cNvSpPr txBox="1"/>
          <p:nvPr/>
        </p:nvSpPr>
        <p:spPr>
          <a:xfrm>
            <a:off x="838200" y="1528799"/>
            <a:ext cx="1062887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Digital Signage Platforms</a:t>
            </a:r>
          </a:p>
          <a:p>
            <a:endParaRPr lang="en-US" sz="2800" b="1" dirty="0"/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Commercial systems provide mature dashboards but require recurring licenses.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Open-source systems reduce software cost but often lack advanced sensing and security features.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Existing platforms usually treat displays as passive playback endpoints.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We identifies a need for an integrated sensing, CMS, and device-control system.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lang="en-US" sz="24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699806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9F96B-F3B4-6A7C-EEDE-7AE1049FE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F234-454C-30DE-6E9E-31895C97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7B9CE-204B-882C-2936-13D0CAA779CB}"/>
              </a:ext>
            </a:extLst>
          </p:cNvPr>
          <p:cNvSpPr txBox="1"/>
          <p:nvPr/>
        </p:nvSpPr>
        <p:spPr>
          <a:xfrm>
            <a:off x="838200" y="1528799"/>
            <a:ext cx="1062887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Power Management</a:t>
            </a:r>
          </a:p>
          <a:p>
            <a:endParaRPr lang="en-US" sz="2800" b="1" dirty="0"/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Display brightness strongly affects power consumption.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Ambient light sensing can reduce unnecessary backlight use.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Weber-Fechner law supports logarithmic brightness adaptation.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This project applies perception-aware brightness mapping to signage displays.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lang="en-US" sz="24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49685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B1F9-C5E8-F9E8-3F05-5764BD02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586A-3194-2924-6BBE-F6FD9DA4B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11BF5-AA2C-4DB2-4CDC-99E8F05AE6BF}"/>
              </a:ext>
            </a:extLst>
          </p:cNvPr>
          <p:cNvSpPr txBox="1"/>
          <p:nvPr/>
        </p:nvSpPr>
        <p:spPr>
          <a:xfrm>
            <a:off x="838200" y="1528799"/>
            <a:ext cx="1062887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Research Gaps</a:t>
            </a:r>
          </a:p>
          <a:p>
            <a:endParaRPr lang="en-US" sz="2800" b="1" dirty="0"/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No open-source platform combines sensing, CMS, RBAC, and adaptive brightness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Limited documented device-token authentication for signage nodes.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Limited campus-scale security and network design for signage IoT.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Limited zero-cost live streaming support in typical signage solutions.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Limited hardware-triggered emergency broadcast integration.</a:t>
            </a: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lang="en-US" sz="24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marL="457200" indent="-457200">
              <a:buFont typeface="+mj-lt"/>
              <a:buAutoNum type="arabicPeriod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lang="en-US" sz="24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90462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300D6-4941-4CFE-5A02-62D45E16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7BA0-E6C1-A31C-CF8A-BBBF04AA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318DB-E18D-44B7-5C6B-497120CC6169}"/>
              </a:ext>
            </a:extLst>
          </p:cNvPr>
          <p:cNvSpPr txBox="1"/>
          <p:nvPr/>
        </p:nvSpPr>
        <p:spPr>
          <a:xfrm>
            <a:off x="838200" y="1528799"/>
            <a:ext cx="929238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project follows iterative prototyping.</a:t>
            </a:r>
          </a:p>
          <a:p>
            <a:pPr marL="457200" indent="-4572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Requirements, architecture, implementation, and validation were developed in phases.</a:t>
            </a:r>
          </a:p>
          <a:p>
            <a:pPr marL="457200" indent="-4572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Hardware and software were integrated gradually.</a:t>
            </a:r>
          </a:p>
          <a:p>
            <a:pPr marL="457200" indent="-4572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4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Testing was performed at backend, frontend, hardware, and network levels.</a:t>
            </a:r>
          </a:p>
          <a:p>
            <a:pPr marL="457200" indent="-4572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lang="en-US" sz="24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marL="457200" indent="-4572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lang="en-US" sz="24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96856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B405E-E397-AF20-8307-76C7D87E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E77F5D-697F-0B7D-3668-F048DFC8C727}"/>
              </a:ext>
            </a:extLst>
          </p:cNvPr>
          <p:cNvSpPr txBox="1"/>
          <p:nvPr/>
        </p:nvSpPr>
        <p:spPr>
          <a:xfrm>
            <a:off x="576515" y="1997839"/>
            <a:ext cx="53219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b="1" dirty="0"/>
              <a:t>Functional Requirements</a:t>
            </a:r>
            <a:endParaRPr lang="en-US" sz="20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User authentication and authorization.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Group, user, and device management.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Post and media management.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Playlist and signage deployment.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Sensor update processing.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Brightness control.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Emergency state override.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5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Live stream relay and monitoring.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3BD6D3F-3C0D-7068-4859-76115B994E33}"/>
              </a:ext>
            </a:extLst>
          </p:cNvPr>
          <p:cNvSpPr txBox="1">
            <a:spLocks/>
          </p:cNvSpPr>
          <p:nvPr/>
        </p:nvSpPr>
        <p:spPr>
          <a:xfrm>
            <a:off x="5739065" y="2105288"/>
            <a:ext cx="93871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A0B0E6-3832-C924-1859-FB8D46261E14}"/>
              </a:ext>
            </a:extLst>
          </p:cNvPr>
          <p:cNvSpPr txBox="1"/>
          <p:nvPr/>
        </p:nvSpPr>
        <p:spPr>
          <a:xfrm>
            <a:off x="5636797" y="1432269"/>
            <a:ext cx="630552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b="1" dirty="0"/>
              <a:t>Non-Functional Requirements</a:t>
            </a:r>
            <a:endParaRPr lang="en-US" sz="20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System should be secure and role controlled.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System should support real-time updates through Socket.IO.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design target supports campus scale with many display nodes.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system should reduce cost through open-source software.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lang="en-US" sz="200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system should be maintainable and documented.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1388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endParaRPr lang="en-US" sz="2000" dirty="0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3E45938-769A-5FAC-F2D7-8FC54523A59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786087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FB9F3-FBC3-9A7C-885D-74AFA1E12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551BC8-8063-3838-90C2-0E1979000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406" y="0"/>
            <a:ext cx="6068695" cy="3308985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6A074EB7-9EB6-2116-D1E7-997E6A1C0EC9}"/>
              </a:ext>
            </a:extLst>
          </p:cNvPr>
          <p:cNvSpPr txBox="1">
            <a:spLocks/>
          </p:cNvSpPr>
          <p:nvPr/>
        </p:nvSpPr>
        <p:spPr>
          <a:xfrm>
            <a:off x="368969" y="1148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High-Level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529CA2-1569-BE75-8211-B8A73F50E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4062" y="3021692"/>
            <a:ext cx="5465344" cy="31728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DB3E25-D59B-7DA2-4C6A-E7B26DFDB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72613" y="3161368"/>
            <a:ext cx="3905250" cy="345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46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DD86-B359-DA2B-7F96-BDFE78C9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C086-1ECD-B6F3-61AC-4F44DA170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Hardware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48E2B-FEC9-704B-B7E9-EC68BEFC944F}"/>
              </a:ext>
            </a:extLst>
          </p:cNvPr>
          <p:cNvSpPr txBox="1"/>
          <p:nvPr/>
        </p:nvSpPr>
        <p:spPr>
          <a:xfrm>
            <a:off x="838200" y="1528799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Component Selection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15146"/>
              </p:ext>
            </p:extLst>
          </p:nvPr>
        </p:nvGraphicFramePr>
        <p:xfrm>
          <a:off x="939113" y="2256481"/>
          <a:ext cx="1062887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9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9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Specification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Arduino Mega 2560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8-bit microcontroller, 256 KB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Sensor acquisition and serial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HC-SR04 Ultrasonic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 units, 2-400 cm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Motion detection (left, center, right coverage)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LDR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Light-dependent resistor, 10-bit ADC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Ambient light sensing for brightness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Potentiometer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10KΩ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Weather simulation (rain sensor proxy)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Emergency Push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Momentary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Hardware trigger for emergency broadcast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Debian 13 Laptops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 units, simulating Raspberry Pi 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Edge display nodes (screens as signage displays)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CEA1-8E8D-ECF5-A3E2-8CD74EE31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7DDB-EA0D-1FD8-EA2D-2C7B24DF4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9EB12-9FA4-EFC2-AD86-D90EC3748C3C}"/>
              </a:ext>
            </a:extLst>
          </p:cNvPr>
          <p:cNvSpPr txBox="1"/>
          <p:nvPr/>
        </p:nvSpPr>
        <p:spPr>
          <a:xfrm>
            <a:off x="838200" y="1528799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Physical Assembly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D7AA7-9901-BC49-7AFA-F57B760112A2}"/>
              </a:ext>
            </a:extLst>
          </p:cNvPr>
          <p:cNvSpPr txBox="1"/>
          <p:nvPr/>
        </p:nvSpPr>
        <p:spPr>
          <a:xfrm>
            <a:off x="838200" y="2052019"/>
            <a:ext cx="431456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Sensors mounted on solderless breadboard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Arduino connected to Debian nodes via USB serial (9600 baud)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Three HC-SR04 sensors positioned for 200 cm hallway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Emergency button wired to digital pin D2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LDR and potentiometer connected to analog inputs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1298018-5A82-D277-1B69-003E7FC26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084" y="3487930"/>
            <a:ext cx="6567216" cy="3063678"/>
          </a:xfrm>
          <a:prstGeom prst="rect">
            <a:avLst/>
          </a:prstGeom>
        </p:spPr>
      </p:pic>
      <p:pic>
        <p:nvPicPr>
          <p:cNvPr id="15" name="Picture">
            <a:extLst>
              <a:ext uri="{FF2B5EF4-FFF2-40B4-BE49-F238E27FC236}">
                <a16:creationId xmlns:a16="http://schemas.microsoft.com/office/drawing/2014/main" id="{138E592F-D19F-83A3-3B54-572BFC3DE5F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6062" y="306392"/>
            <a:ext cx="6028579" cy="286227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66468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8DB13-BC7A-C90D-6A07-8312E4ED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067E-44BB-423A-D28B-D66744978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Hardware: Arduino Firmware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DD437-7D32-EF88-B51E-CC65D78BCDE7}"/>
              </a:ext>
            </a:extLst>
          </p:cNvPr>
          <p:cNvSpPr txBox="1"/>
          <p:nvPr/>
        </p:nvSpPr>
        <p:spPr>
          <a:xfrm>
            <a:off x="838200" y="1429078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Sensor Data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F655-2832-DBC7-F208-26B1F8BC3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0300"/>
            <a:ext cx="10515600" cy="376592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The Arduino firmware reads sensors every 500ms and transmits a packet in the format:</a:t>
            </a:r>
          </a:p>
          <a:p>
            <a:pPr lvl="0" indent="0">
              <a:buNone/>
            </a:pPr>
            <a:r>
              <a:rPr sz="2400" dirty="0" err="1">
                <a:latin typeface="Courier"/>
              </a:rPr>
              <a:t>SENSOR,motion,brightness,rain,emergency</a:t>
            </a:r>
            <a:r>
              <a:rPr lang="en-US" sz="2400" dirty="0">
                <a:latin typeface="Courier"/>
              </a:rPr>
              <a:t>\n</a:t>
            </a:r>
            <a:endParaRPr sz="2400" dirty="0">
              <a:latin typeface="Courier"/>
            </a:endParaRPr>
          </a:p>
          <a:p>
            <a:pPr lvl="0"/>
            <a:r>
              <a:rPr sz="2400" b="1" dirty="0"/>
              <a:t>motion:</a:t>
            </a:r>
            <a:r>
              <a:rPr sz="2400" dirty="0"/>
              <a:t> 0 or 1 (any sensor &lt; 100 cm triggers motion)</a:t>
            </a:r>
          </a:p>
          <a:p>
            <a:pPr lvl="0"/>
            <a:r>
              <a:rPr sz="2400" b="1" dirty="0"/>
              <a:t>brightness:</a:t>
            </a:r>
            <a:r>
              <a:rPr sz="2400" dirty="0"/>
              <a:t> Normalized LDR value (0–100)</a:t>
            </a:r>
          </a:p>
          <a:p>
            <a:pPr lvl="0"/>
            <a:r>
              <a:rPr sz="2400" b="1" dirty="0"/>
              <a:t>rain:</a:t>
            </a:r>
            <a:r>
              <a:rPr sz="2400" dirty="0"/>
              <a:t> Normalized potentiometer value (0–100)</a:t>
            </a:r>
          </a:p>
          <a:p>
            <a:pPr lvl="0"/>
            <a:r>
              <a:rPr sz="2400" b="1" dirty="0"/>
              <a:t>emergency:</a:t>
            </a:r>
            <a:r>
              <a:rPr sz="2400" dirty="0"/>
              <a:t> 0 or 1 (button press on pin D2)</a:t>
            </a:r>
          </a:p>
        </p:txBody>
      </p:sp>
    </p:spTree>
    <p:extLst>
      <p:ext uri="{BB962C8B-B14F-4D97-AF65-F5344CB8AC3E}">
        <p14:creationId xmlns:p14="http://schemas.microsoft.com/office/powerpoint/2010/main" val="557680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23D3-3D84-C292-4705-69747597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AE86-EF4C-6ABE-CA7D-C34DE471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Hardware: Adaptive Brightness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C30DD-D047-6971-4FB7-9AD681932083}"/>
              </a:ext>
            </a:extLst>
          </p:cNvPr>
          <p:cNvSpPr txBox="1"/>
          <p:nvPr/>
        </p:nvSpPr>
        <p:spPr>
          <a:xfrm>
            <a:off x="838200" y="1429078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Weber-Fechner Logarithmic Mapping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38FECE-19AF-A425-CE9A-E1BC8CFFD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12259"/>
            <a:ext cx="10628869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We implemented logarithmic brightness mapping on the Debian node:</a:t>
            </a:r>
          </a:p>
          <a:p>
            <a:pPr lvl="0" indent="0">
              <a:buNone/>
            </a:pPr>
            <a:r>
              <a:rPr sz="2400" dirty="0" err="1">
                <a:latin typeface="Courier"/>
              </a:rPr>
              <a:t>B_display</a:t>
            </a:r>
            <a:r>
              <a:rPr sz="2400" dirty="0">
                <a:latin typeface="Courier"/>
              </a:rPr>
              <a:t> = </a:t>
            </a:r>
            <a:r>
              <a:rPr sz="2400" dirty="0" err="1">
                <a:latin typeface="Courier"/>
              </a:rPr>
              <a:t>B_min</a:t>
            </a:r>
            <a:r>
              <a:rPr sz="2400" dirty="0">
                <a:latin typeface="Courier"/>
              </a:rPr>
              <a:t> + (B_max - </a:t>
            </a:r>
            <a:r>
              <a:rPr sz="2400" dirty="0" err="1">
                <a:latin typeface="Courier"/>
              </a:rPr>
              <a:t>B_min</a:t>
            </a:r>
            <a:r>
              <a:rPr sz="2400" dirty="0">
                <a:latin typeface="Courier"/>
              </a:rPr>
              <a:t>) × </a:t>
            </a:r>
            <a:r>
              <a:rPr sz="2400" dirty="0" err="1">
                <a:latin typeface="Courier"/>
              </a:rPr>
              <a:t>L_ambient</a:t>
            </a:r>
            <a:endParaRPr sz="2400" dirty="0">
              <a:latin typeface="Courier"/>
            </a:endParaRPr>
          </a:p>
          <a:p>
            <a:r>
              <a:rPr sz="2400" b="1" dirty="0" err="1"/>
              <a:t>B_min</a:t>
            </a:r>
            <a:r>
              <a:rPr sz="2400" b="1" dirty="0"/>
              <a:t>:</a:t>
            </a:r>
            <a:r>
              <a:rPr sz="2400" dirty="0"/>
              <a:t> 10% (minimum readable brightness)</a:t>
            </a:r>
          </a:p>
          <a:p>
            <a:r>
              <a:rPr sz="2400" b="1" dirty="0"/>
              <a:t>B_max:</a:t>
            </a:r>
            <a:r>
              <a:rPr sz="2400" dirty="0"/>
              <a:t> 100% (maximum brightness)</a:t>
            </a:r>
          </a:p>
          <a:p>
            <a:r>
              <a:rPr sz="2400" b="1" dirty="0" err="1"/>
              <a:t>L_ambient</a:t>
            </a:r>
            <a:r>
              <a:rPr sz="2400" b="1" dirty="0"/>
              <a:t>:</a:t>
            </a:r>
            <a:r>
              <a:rPr sz="2400" dirty="0"/>
              <a:t> Normalized LDR reading (0–1023 mapped to 0–1)</a:t>
            </a:r>
          </a:p>
        </p:txBody>
      </p:sp>
    </p:spTree>
    <p:extLst>
      <p:ext uri="{BB962C8B-B14F-4D97-AF65-F5344CB8AC3E}">
        <p14:creationId xmlns:p14="http://schemas.microsoft.com/office/powerpoint/2010/main" val="2161551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70AD2-5314-30BC-C0EC-312B9DA4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C1CB5-32E5-6A35-3C0D-FD72D8D43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Implementation: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80F98-FF0B-6BB0-7B25-3CBEEFF6E1A6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Technology Stack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838199" y="1801904"/>
            <a:ext cx="5142471" cy="4937616"/>
          </a:xfrm>
        </p:spPr>
        <p:txBody>
          <a:bodyPr numCol="1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400" b="1" dirty="0"/>
              <a:t>Backend</a:t>
            </a:r>
          </a:p>
          <a:p>
            <a:pPr lvl="0"/>
            <a:r>
              <a:rPr sz="2400" b="1" dirty="0"/>
              <a:t>Runtime:</a:t>
            </a:r>
            <a:r>
              <a:rPr sz="2400" dirty="0"/>
              <a:t> Node.js v20 LTS</a:t>
            </a:r>
          </a:p>
          <a:p>
            <a:pPr lvl="0"/>
            <a:r>
              <a:rPr sz="2400" b="1" dirty="0"/>
              <a:t>Framework:</a:t>
            </a:r>
            <a:r>
              <a:rPr sz="2400" dirty="0"/>
              <a:t> Express.js 5.0</a:t>
            </a:r>
          </a:p>
          <a:p>
            <a:pPr lvl="0"/>
            <a:r>
              <a:rPr sz="2400" b="1" dirty="0"/>
              <a:t>Database:</a:t>
            </a:r>
            <a:r>
              <a:rPr sz="2400" dirty="0"/>
              <a:t> PostgreSQL 15 with Prisma ORM</a:t>
            </a:r>
          </a:p>
          <a:p>
            <a:pPr lvl="0"/>
            <a:r>
              <a:rPr sz="2400" b="1" dirty="0"/>
              <a:t>Real-time:</a:t>
            </a:r>
            <a:r>
              <a:rPr sz="2400" dirty="0"/>
              <a:t> Socket.IO 4.x</a:t>
            </a:r>
          </a:p>
          <a:p>
            <a:pPr lvl="0"/>
            <a:r>
              <a:rPr sz="2400" b="1" dirty="0"/>
              <a:t>Media Processing:</a:t>
            </a:r>
            <a:r>
              <a:rPr sz="2400" dirty="0"/>
              <a:t> </a:t>
            </a:r>
            <a:r>
              <a:rPr sz="2400" dirty="0" err="1"/>
              <a:t>FFmpeg</a:t>
            </a:r>
            <a:r>
              <a:rPr sz="2400" dirty="0"/>
              <a:t> 7.0, Sharp 0.34</a:t>
            </a:r>
          </a:p>
          <a:p>
            <a:pPr lvl="0"/>
            <a:r>
              <a:rPr sz="2400" b="1" dirty="0"/>
              <a:t>Authentication:</a:t>
            </a:r>
            <a:r>
              <a:rPr sz="2400" dirty="0"/>
              <a:t> JWT (users), Device Tokens (IoT nodes)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1F0D07-9B69-F6C3-6E49-5F6AEEEE912F}"/>
              </a:ext>
            </a:extLst>
          </p:cNvPr>
          <p:cNvSpPr txBox="1"/>
          <p:nvPr/>
        </p:nvSpPr>
        <p:spPr>
          <a:xfrm>
            <a:off x="6211332" y="1690688"/>
            <a:ext cx="514246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sz="2400" b="1" dirty="0"/>
              <a:t>Frontend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Framework:</a:t>
            </a:r>
            <a:r>
              <a:rPr lang="en-US" sz="2400" dirty="0"/>
              <a:t> React 19 with Vite 6.0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State Management:</a:t>
            </a:r>
            <a:r>
              <a:rPr lang="en-US" sz="2400" dirty="0"/>
              <a:t> </a:t>
            </a:r>
            <a:r>
              <a:rPr lang="en-US" sz="2400" dirty="0" err="1"/>
              <a:t>Zustand</a:t>
            </a:r>
            <a:r>
              <a:rPr lang="en-US" sz="2400" dirty="0"/>
              <a:t> 5.x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Routing:</a:t>
            </a:r>
            <a:r>
              <a:rPr lang="en-US" sz="2400" dirty="0"/>
              <a:t> React Router 7.x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Content Designers:</a:t>
            </a:r>
            <a:r>
              <a:rPr lang="en-US" sz="2400" dirty="0"/>
              <a:t> Fabric.js 5.3 (visual), Markdown + </a:t>
            </a:r>
            <a:r>
              <a:rPr lang="en-US" sz="2400" dirty="0" err="1"/>
              <a:t>KaTeX</a:t>
            </a:r>
            <a:r>
              <a:rPr lang="en-US" sz="2400" dirty="0"/>
              <a:t> (textual)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HTTP Client:</a:t>
            </a:r>
            <a:r>
              <a:rPr lang="en-US" sz="2400" dirty="0"/>
              <a:t> Axios 1.6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Testing:</a:t>
            </a:r>
            <a:r>
              <a:rPr lang="en-US" sz="2400" dirty="0"/>
              <a:t> Playwright 1.48 (25 E2E tests, 55 screenshots)</a:t>
            </a:r>
          </a:p>
        </p:txBody>
      </p:sp>
    </p:spTree>
    <p:extLst>
      <p:ext uri="{BB962C8B-B14F-4D97-AF65-F5344CB8AC3E}">
        <p14:creationId xmlns:p14="http://schemas.microsoft.com/office/powerpoint/2010/main" val="3230338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56AAF-A3CC-283F-8E79-DBF83BA4E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91BB1-E924-035E-90CB-5BD03F3F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13345-D949-87D2-F847-6AB6C31FD8B1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Technology Stack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A024DF-DED3-0B84-5560-4A3060FDA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20384"/>
            <a:ext cx="11024288" cy="4937616"/>
          </a:xfrm>
        </p:spPr>
        <p:txBody>
          <a:bodyPr numCol="1"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US" b="1" dirty="0"/>
              <a:t>Edge Node Software (Debian/Raspberry Pi)</a:t>
            </a:r>
          </a:p>
          <a:p>
            <a:pPr lvl="0"/>
            <a:r>
              <a:rPr lang="en-US" sz="2400" b="1" dirty="0"/>
              <a:t>Socket Client:</a:t>
            </a:r>
            <a:r>
              <a:rPr lang="en-US" sz="2400" dirty="0"/>
              <a:t> Python </a:t>
            </a:r>
            <a:r>
              <a:rPr lang="en-US" sz="2400" dirty="0">
                <a:latin typeface="Courier"/>
              </a:rPr>
              <a:t>socket_client.py</a:t>
            </a:r>
            <a:r>
              <a:rPr lang="en-US" sz="2400" dirty="0"/>
              <a:t> (device authentication, heartbeat)</a:t>
            </a:r>
          </a:p>
          <a:p>
            <a:pPr lvl="0"/>
            <a:r>
              <a:rPr lang="en-US" sz="2400" b="1" dirty="0"/>
              <a:t>Content Sync:</a:t>
            </a:r>
            <a:r>
              <a:rPr lang="en-US" sz="2400" dirty="0"/>
              <a:t> Python </a:t>
            </a:r>
            <a:r>
              <a:rPr lang="en-US" sz="2400" dirty="0">
                <a:latin typeface="Courier"/>
              </a:rPr>
              <a:t>content_sync.py</a:t>
            </a:r>
            <a:r>
              <a:rPr lang="en-US" sz="2400" dirty="0"/>
              <a:t> (incremental asset download)</a:t>
            </a:r>
          </a:p>
          <a:p>
            <a:pPr lvl="0"/>
            <a:r>
              <a:rPr lang="en-US" sz="2400" b="1" dirty="0"/>
              <a:t>Scheduler:</a:t>
            </a:r>
            <a:r>
              <a:rPr lang="en-US" sz="2400" dirty="0"/>
              <a:t> Python </a:t>
            </a:r>
            <a:r>
              <a:rPr lang="en-US" sz="2400" dirty="0">
                <a:latin typeface="Courier"/>
              </a:rPr>
              <a:t>scheduler.py</a:t>
            </a:r>
            <a:r>
              <a:rPr lang="en-US" sz="2400" dirty="0"/>
              <a:t> (MPV playback scheduling)</a:t>
            </a:r>
          </a:p>
          <a:p>
            <a:pPr lvl="0"/>
            <a:r>
              <a:rPr lang="en-US" sz="2400" b="1" dirty="0"/>
              <a:t>Brightness Control:</a:t>
            </a:r>
            <a:r>
              <a:rPr lang="en-US" sz="2400" dirty="0"/>
              <a:t> Python </a:t>
            </a:r>
            <a:r>
              <a:rPr lang="en-US" sz="2400" dirty="0">
                <a:latin typeface="Courier"/>
              </a:rPr>
              <a:t>brightness_control.py</a:t>
            </a:r>
            <a:r>
              <a:rPr lang="en-US" sz="2400" dirty="0"/>
              <a:t> (LDR → CEC mapping)</a:t>
            </a:r>
          </a:p>
          <a:p>
            <a:pPr lvl="0"/>
            <a:r>
              <a:rPr lang="en-US" sz="2400" b="1" dirty="0"/>
              <a:t>Service Manager:</a:t>
            </a:r>
            <a:r>
              <a:rPr lang="en-US" sz="2400" dirty="0"/>
              <a:t> </a:t>
            </a:r>
            <a:r>
              <a:rPr lang="en-US" sz="2400" dirty="0" err="1"/>
              <a:t>systemd</a:t>
            </a:r>
            <a:r>
              <a:rPr lang="en-US" sz="2400" dirty="0"/>
              <a:t> unit files for auto-start</a:t>
            </a:r>
          </a:p>
        </p:txBody>
      </p:sp>
    </p:spTree>
    <p:extLst>
      <p:ext uri="{BB962C8B-B14F-4D97-AF65-F5344CB8AC3E}">
        <p14:creationId xmlns:p14="http://schemas.microsoft.com/office/powerpoint/2010/main" val="2324635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F0B4E-B24F-5175-82A4-0E2A8C48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54E5-6BE3-6F8E-8BAF-A4558E00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Software: Backend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D0826-6734-867C-92C8-A27B4EE6063B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Layered Architecture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4C3EA8A-580D-EEE6-3AF5-719BC6D90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2236572"/>
            <a:ext cx="6555207" cy="2070734"/>
          </a:xfrm>
        </p:spPr>
        <p:txBody>
          <a:bodyPr numCol="1">
            <a:normAutofit/>
          </a:bodyPr>
          <a:lstStyle/>
          <a:p>
            <a:r>
              <a:rPr lang="en-US" sz="2400" dirty="0"/>
              <a:t>Authentication &amp; Authorization</a:t>
            </a:r>
          </a:p>
          <a:p>
            <a:r>
              <a:rPr lang="en-US" sz="2400" dirty="0"/>
              <a:t>Database Schema (PostgreSQL + Prisma)</a:t>
            </a:r>
          </a:p>
          <a:p>
            <a:r>
              <a:rPr lang="en-US" sz="2400" dirty="0"/>
              <a:t>Real-Time Communication (Socket.IO)</a:t>
            </a:r>
          </a:p>
          <a:p>
            <a:r>
              <a:rPr lang="en-US" sz="2400" dirty="0"/>
              <a:t>Concurrency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B9445-20FC-C6A4-E893-4E5A9C840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772" y="365125"/>
            <a:ext cx="22479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67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9DF08-95BB-6F1E-F4AB-BB0D383E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03CA-6B68-F0C6-2039-11FDECC8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Software: Frontend &amp; User Interface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370D4-D140-AEDA-9951-44CDD99B2086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React 19 Frontend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5762D8-05BA-ACDF-3284-F99354B822CD}"/>
              </a:ext>
            </a:extLst>
          </p:cNvPr>
          <p:cNvSpPr txBox="1"/>
          <p:nvPr/>
        </p:nvSpPr>
        <p:spPr>
          <a:xfrm>
            <a:off x="838198" y="1998995"/>
            <a:ext cx="53896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Role-Based Dashboards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Creator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Public Feed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222641-31F0-D99B-4E47-8C72EFF3A9EC}"/>
              </a:ext>
            </a:extLst>
          </p:cNvPr>
          <p:cNvSpPr txBox="1"/>
          <p:nvPr/>
        </p:nvSpPr>
        <p:spPr>
          <a:xfrm>
            <a:off x="838198" y="3507631"/>
            <a:ext cx="52578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State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Zustand</a:t>
            </a:r>
            <a:r>
              <a:rPr lang="en-US" dirty="0"/>
              <a:t> stores for user auth, groups, devices, posts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updates via Socket.IO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Optimistic UI updates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419E8F-CFB0-923B-1F2B-B547D201D8D9}"/>
              </a:ext>
            </a:extLst>
          </p:cNvPr>
          <p:cNvSpPr txBox="1"/>
          <p:nvPr/>
        </p:nvSpPr>
        <p:spPr>
          <a:xfrm>
            <a:off x="838198" y="5016267"/>
            <a:ext cx="53896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25 Playwright E2E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55 automated screenshots covering all major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Tests for login, admin operations, creator workflows, public feed, emergency handling</a:t>
            </a:r>
          </a:p>
        </p:txBody>
      </p:sp>
    </p:spTree>
    <p:extLst>
      <p:ext uri="{BB962C8B-B14F-4D97-AF65-F5344CB8AC3E}">
        <p14:creationId xmlns:p14="http://schemas.microsoft.com/office/powerpoint/2010/main" val="3462423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6BD5-76E7-467E-2B0C-788C2E7D6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8D32-CBFA-C222-FDA2-26E79DD1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25236-11B9-4991-8783-B8BDA2718E59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Subnet 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9F79E-9A2C-4DCC-21B7-B8FC3C135B26}"/>
              </a:ext>
            </a:extLst>
          </p:cNvPr>
          <p:cNvSpPr txBox="1"/>
          <p:nvPr/>
        </p:nvSpPr>
        <p:spPr>
          <a:xfrm>
            <a:off x="838198" y="1796817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Signage Subnet:</a:t>
            </a:r>
            <a:r>
              <a:rPr lang="fr-FR" dirty="0"/>
              <a:t> 10.20.0.0/22 (1,022 usable IPs)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1F8FB9-67D3-19E0-B6B7-1E5D7EA05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788" y="123825"/>
            <a:ext cx="4857750" cy="6610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7991E8-5666-6F80-1EA0-0EDF1D73DF28}"/>
              </a:ext>
            </a:extLst>
          </p:cNvPr>
          <p:cNvSpPr txBox="1"/>
          <p:nvPr/>
        </p:nvSpPr>
        <p:spPr>
          <a:xfrm>
            <a:off x="838198" y="2272278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Layer 3 Isolation with Dual-NIC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0C367-EB8D-02F1-4691-BF9D705021FE}"/>
              </a:ext>
            </a:extLst>
          </p:cNvPr>
          <p:cNvSpPr txBox="1"/>
          <p:nvPr/>
        </p:nvSpPr>
        <p:spPr>
          <a:xfrm>
            <a:off x="838198" y="3105209"/>
            <a:ext cx="63754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NIC-1 (Campus-facing):</a:t>
            </a:r>
            <a:endParaRPr lang="en-US" sz="2000" dirty="0"/>
          </a:p>
          <a:p>
            <a:pPr>
              <a:buNone/>
            </a:pPr>
            <a:r>
              <a:rPr lang="en-US" sz="2000" b="1" dirty="0"/>
              <a:t>NIC-2 (Signage-facing):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No direct routing</a:t>
            </a:r>
            <a:r>
              <a:rPr lang="en-US" sz="2000" dirty="0">
                <a:solidFill>
                  <a:srgbClr val="FF0000"/>
                </a:solidFill>
              </a:rPr>
              <a:t> between campus and signage subnets. All cross-subnet traffic traverses the server with firewall rules, TLS termination, and rate limiting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74619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448F2-A412-1C40-8A08-EA120DC8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F4E6-D1F3-4589-81C7-F3A5B5565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Network: Core Services &amp; Bandwidth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C8972-FDE2-6DA3-8E60-039A68AE143F}"/>
              </a:ext>
            </a:extLst>
          </p:cNvPr>
          <p:cNvSpPr txBox="1"/>
          <p:nvPr/>
        </p:nvSpPr>
        <p:spPr>
          <a:xfrm>
            <a:off x="838199" y="1273597"/>
            <a:ext cx="46863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Core Services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CE2546EB-65A8-3A16-FD82-034F1CAEB9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7595509"/>
              </p:ext>
            </p:extLst>
          </p:nvPr>
        </p:nvGraphicFramePr>
        <p:xfrm>
          <a:off x="972064" y="1796817"/>
          <a:ext cx="1388077" cy="3664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88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79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 err="1"/>
                        <a:t>dnsmasq</a:t>
                      </a:r>
                      <a:endParaRPr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79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chrony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79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nginx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79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nftables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79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 err="1"/>
                        <a:t>tc</a:t>
                      </a:r>
                      <a:r>
                        <a:rPr b="1" dirty="0"/>
                        <a:t> (traffic control)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180FF40-52BF-F26C-0794-96C2C9908E61}"/>
              </a:ext>
            </a:extLst>
          </p:cNvPr>
          <p:cNvSpPr txBox="1"/>
          <p:nvPr/>
        </p:nvSpPr>
        <p:spPr>
          <a:xfrm>
            <a:off x="4876801" y="1301280"/>
            <a:ext cx="6343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Bandwidth Engineering</a:t>
            </a:r>
          </a:p>
        </p:txBody>
      </p:sp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7901174"/>
              </p:ext>
            </p:extLst>
          </p:nvPr>
        </p:nvGraphicFramePr>
        <p:xfrm>
          <a:off x="4967415" y="1796817"/>
          <a:ext cx="6610865" cy="5061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9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62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29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Concurrent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Per-Node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Aggregate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07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Normal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5 kbps (heartbeat)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650 kbps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756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Content push (images)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500 KB every 60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~10.8 Mbps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756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Content push (videos)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5 MB every 300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~17.3 Mbps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762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Live stream (1080p HLS)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4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520 Mbps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07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Emergency broadcast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200 KB (one-time)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26 Mbps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7047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C5B7D-542D-2B48-C857-E1F9FE11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568B-A90B-931E-169E-E4C40E10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87B1B-501E-C47B-44B2-4F15923904A1}"/>
              </a:ext>
            </a:extLst>
          </p:cNvPr>
          <p:cNvSpPr txBox="1"/>
          <p:nvPr/>
        </p:nvSpPr>
        <p:spPr>
          <a:xfrm>
            <a:off x="838199" y="1273597"/>
            <a:ext cx="46863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Threat Model</a:t>
            </a:r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682776"/>
              </p:ext>
            </p:extLst>
          </p:nvPr>
        </p:nvGraphicFramePr>
        <p:xfrm>
          <a:off x="838198" y="1690688"/>
          <a:ext cx="9452920" cy="5110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9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7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6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06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Threat 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Attack Surface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98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Malicious insider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Sabotage, unauthorized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Admin dashboard, device tokens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279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External attacker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Content injection, service disruption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Public-facing API, Socket.IO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279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Compromised campus workstation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Lateral movement to signage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Campus subnet → signage subnet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753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Physical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Hardware tampering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Raspberry Pi, Arduino, displays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725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54C11-1D72-2C77-DCCE-F84B2EF32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7643-5568-795B-6DB8-93C3414F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515"/>
            <a:ext cx="10515600" cy="1325563"/>
          </a:xfrm>
        </p:spPr>
        <p:txBody>
          <a:bodyPr/>
          <a:lstStyle/>
          <a:p>
            <a:r>
              <a:rPr lang="en-US" b="1" dirty="0"/>
              <a:t>Security Implementation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89A9AD-164C-CD9A-BB18-AA147610042A}"/>
              </a:ext>
            </a:extLst>
          </p:cNvPr>
          <p:cNvSpPr txBox="1"/>
          <p:nvPr/>
        </p:nvSpPr>
        <p:spPr>
          <a:xfrm>
            <a:off x="838200" y="1083266"/>
            <a:ext cx="6343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Vulnerabilities Addressed (12 Total)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B34559-3B5F-82A0-50A3-18A415CDC1F8}"/>
              </a:ext>
            </a:extLst>
          </p:cNvPr>
          <p:cNvSpPr txBox="1"/>
          <p:nvPr/>
        </p:nvSpPr>
        <p:spPr>
          <a:xfrm>
            <a:off x="838200" y="1709754"/>
            <a:ext cx="1117874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Priority P0 (Critical - 4 issues)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Default credentials in </a:t>
            </a:r>
            <a:r>
              <a:rPr lang="en-US" sz="2000" dirty="0" err="1"/>
              <a:t>PiSignage</a:t>
            </a:r>
            <a:r>
              <a:rPr lang="en-US" sz="2000" dirty="0"/>
              <a:t> → </a:t>
            </a:r>
            <a:r>
              <a:rPr lang="en-US" sz="2000" dirty="0" err="1"/>
              <a:t>Bcrypt</a:t>
            </a:r>
            <a:r>
              <a:rPr lang="en-US" sz="2000" dirty="0"/>
              <a:t> password hashing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Unauthenticated Socket.IO connections → Device token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SQL injection via </a:t>
            </a:r>
            <a:r>
              <a:rPr lang="en-US" sz="2000" dirty="0" err="1"/>
              <a:t>unsanitized</a:t>
            </a:r>
            <a:r>
              <a:rPr lang="en-US" sz="2000" dirty="0"/>
              <a:t> input → Prisma ORM parameterized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Missing HTTPS → TLS 1.3 termination via nginx</a:t>
            </a:r>
          </a:p>
          <a:p>
            <a:pPr>
              <a:buNone/>
            </a:pPr>
            <a:r>
              <a:rPr lang="en-US" sz="2000" b="1" dirty="0"/>
              <a:t>Priority P1 (High - 5 issues)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RBAC for content management → Group-scoped permissions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Unrestricted file uploads → Multer validation + Sharp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Missing rate limiting → </a:t>
            </a:r>
            <a:r>
              <a:rPr lang="en-US" sz="2000" dirty="0" err="1"/>
              <a:t>tc</a:t>
            </a:r>
            <a:r>
              <a:rPr lang="en-US" sz="2000" dirty="0"/>
              <a:t> + nginx rate limits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Weak JWT secrets → 32-character cryptographically secure secrets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input validation → Express-validator middleware</a:t>
            </a:r>
          </a:p>
          <a:p>
            <a:pPr>
              <a:buNone/>
            </a:pPr>
            <a:r>
              <a:rPr lang="en-US" sz="2000" b="1" dirty="0"/>
              <a:t>Priority P2 (Medium - 3 issues)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Missing CORS headers → Helmet.js CORS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security headers → Helmet.js security headers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Insufficient logging → Structured logging with Winston</a:t>
            </a:r>
          </a:p>
        </p:txBody>
      </p:sp>
    </p:spTree>
    <p:extLst>
      <p:ext uri="{BB962C8B-B14F-4D97-AF65-F5344CB8AC3E}">
        <p14:creationId xmlns:p14="http://schemas.microsoft.com/office/powerpoint/2010/main" val="2502365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4B936-782C-28D3-3562-B3CCC62D6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DB4461-DAA1-9166-E952-61C6A0EB1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023" y="0"/>
            <a:ext cx="596997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3B6D9B-155F-F4BD-500A-BB7D8258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13" y="219718"/>
            <a:ext cx="10515600" cy="1325563"/>
          </a:xfrm>
        </p:spPr>
        <p:txBody>
          <a:bodyPr/>
          <a:lstStyle/>
          <a:p>
            <a:r>
              <a:rPr lang="en-US" b="1" dirty="0"/>
              <a:t>Security Implementation</a:t>
            </a:r>
          </a:p>
        </p:txBody>
      </p:sp>
      <p:pic>
        <p:nvPicPr>
          <p:cNvPr id="7" name="Picture" descr="Fig 4.9 — Authentication flow sequence diagram showing JWT login for users and device token assignment for IoT nodes.">
            <a:extLst>
              <a:ext uri="{FF2B5EF4-FFF2-40B4-BE49-F238E27FC236}">
                <a16:creationId xmlns:a16="http://schemas.microsoft.com/office/drawing/2014/main" id="{D499594A-B2A4-6CCB-3807-EF56CFA9476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512806" y="1612900"/>
            <a:ext cx="5334000" cy="487997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4856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0819-4374-B334-24D0-833B08E51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D13CF-EE11-DE2E-8984-6B2CE9BB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Power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A4485-40FA-FBCC-9F57-A4D30F5DA2A5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Component Power Specifications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67C07446-3229-2D10-160E-0E6363973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3925526"/>
              </p:ext>
            </p:extLst>
          </p:nvPr>
        </p:nvGraphicFramePr>
        <p:xfrm>
          <a:off x="838199" y="1984633"/>
          <a:ext cx="956619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3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6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Power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Duty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Raspberry Pi 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16 hrs/day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Active during campus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Commercial Display (43”)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16 hrs/day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Fixed brightness baseline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Arduino Mega 2560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24 hrs/day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Always on for sensing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Network Switch (per building)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24 hrs/day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Server (dual-NIC)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24 hrs/day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Backend +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150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7E63C-8994-E147-84B6-9138EDA35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F22A-EC25-12C1-77EF-F505DC6E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43757-CA3E-F74B-3CAD-0724FE618C59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Per-Node Power Budget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DFB15C-F1B0-0F55-B2C4-DBB57FB42389}"/>
              </a:ext>
            </a:extLst>
          </p:cNvPr>
          <p:cNvSpPr txBox="1"/>
          <p:nvPr/>
        </p:nvSpPr>
        <p:spPr>
          <a:xfrm>
            <a:off x="838198" y="1796817"/>
            <a:ext cx="804631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Without adaptive brightness: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Display: 80 W × 16 </a:t>
            </a:r>
            <a:r>
              <a:rPr lang="en-US" sz="2400" dirty="0" err="1"/>
              <a:t>hrs</a:t>
            </a:r>
            <a:r>
              <a:rPr lang="en-US" sz="2400" dirty="0"/>
              <a:t> = 1,280 </a:t>
            </a:r>
            <a:r>
              <a:rPr lang="en-US" sz="2400" dirty="0" err="1"/>
              <a:t>Wh</a:t>
            </a:r>
            <a:r>
              <a:rPr lang="en-US" sz="2400" dirty="0"/>
              <a:t>/day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Pi: 5 W × 16 </a:t>
            </a:r>
            <a:r>
              <a:rPr lang="en-US" sz="2400" dirty="0" err="1"/>
              <a:t>hrs</a:t>
            </a:r>
            <a:r>
              <a:rPr lang="en-US" sz="2400" dirty="0"/>
              <a:t> = 80 </a:t>
            </a:r>
            <a:r>
              <a:rPr lang="en-US" sz="2400" dirty="0" err="1"/>
              <a:t>Wh</a:t>
            </a:r>
            <a:r>
              <a:rPr lang="en-US" sz="2400" dirty="0"/>
              <a:t>/day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Arduino: 0.2 W × 24 </a:t>
            </a:r>
            <a:r>
              <a:rPr lang="en-US" sz="2400" dirty="0" err="1"/>
              <a:t>hrs</a:t>
            </a:r>
            <a:r>
              <a:rPr lang="en-US" sz="2400" dirty="0"/>
              <a:t> = 4.8 </a:t>
            </a:r>
            <a:r>
              <a:rPr lang="en-US" sz="2400" dirty="0" err="1"/>
              <a:t>Wh</a:t>
            </a:r>
            <a:r>
              <a:rPr lang="en-US" sz="2400" dirty="0"/>
              <a:t>/day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Total per node:</a:t>
            </a:r>
            <a:r>
              <a:rPr lang="en-US" sz="2400" dirty="0"/>
              <a:t> 1,364.8 </a:t>
            </a:r>
            <a:r>
              <a:rPr lang="en-US" sz="2400" dirty="0" err="1"/>
              <a:t>Wh</a:t>
            </a:r>
            <a:r>
              <a:rPr lang="en-US" sz="2400" dirty="0"/>
              <a:t>/day</a:t>
            </a:r>
          </a:p>
          <a:p>
            <a:pPr>
              <a:buNone/>
            </a:pPr>
            <a:r>
              <a:rPr lang="en-US" sz="2400" b="1" dirty="0"/>
              <a:t>With adaptive brightness (30% savings):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Display: 56 W × 16 </a:t>
            </a:r>
            <a:r>
              <a:rPr lang="en-US" sz="2400" dirty="0" err="1"/>
              <a:t>hrs</a:t>
            </a:r>
            <a:r>
              <a:rPr lang="en-US" sz="2400" dirty="0"/>
              <a:t> = 896 </a:t>
            </a:r>
            <a:r>
              <a:rPr lang="en-US" sz="2400" dirty="0" err="1"/>
              <a:t>Wh</a:t>
            </a:r>
            <a:r>
              <a:rPr lang="en-US" sz="2400" dirty="0"/>
              <a:t>/day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Pi: 5 W × 16 </a:t>
            </a:r>
            <a:r>
              <a:rPr lang="en-US" sz="2400" dirty="0" err="1"/>
              <a:t>hrs</a:t>
            </a:r>
            <a:r>
              <a:rPr lang="en-US" sz="2400" dirty="0"/>
              <a:t> = 80 </a:t>
            </a:r>
            <a:r>
              <a:rPr lang="en-US" sz="2400" dirty="0" err="1"/>
              <a:t>Wh</a:t>
            </a:r>
            <a:r>
              <a:rPr lang="en-US" sz="2400" dirty="0"/>
              <a:t>/day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Arduino: 0.2 W × 24 </a:t>
            </a:r>
            <a:r>
              <a:rPr lang="en-US" sz="2400" dirty="0" err="1"/>
              <a:t>hrs</a:t>
            </a:r>
            <a:r>
              <a:rPr lang="en-US" sz="2400" dirty="0"/>
              <a:t> = 4.8 </a:t>
            </a:r>
            <a:r>
              <a:rPr lang="en-US" sz="2400" dirty="0" err="1"/>
              <a:t>Wh</a:t>
            </a:r>
            <a:r>
              <a:rPr lang="en-US" sz="2400" dirty="0"/>
              <a:t>/day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Total per node:</a:t>
            </a:r>
            <a:r>
              <a:rPr lang="en-US" sz="2400" dirty="0"/>
              <a:t> 980.8 </a:t>
            </a:r>
            <a:r>
              <a:rPr lang="en-US" sz="2400" dirty="0" err="1"/>
              <a:t>Wh</a:t>
            </a:r>
            <a:r>
              <a:rPr lang="en-US" sz="2400" dirty="0"/>
              <a:t>/day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b="1" dirty="0"/>
              <a:t>Savings per node:</a:t>
            </a:r>
            <a:r>
              <a:rPr lang="en-US" sz="2400" dirty="0"/>
              <a:t> 384 </a:t>
            </a:r>
            <a:r>
              <a:rPr lang="en-US" sz="2400" dirty="0" err="1"/>
              <a:t>Wh</a:t>
            </a:r>
            <a:r>
              <a:rPr lang="en-US" sz="2400" dirty="0"/>
              <a:t>/day (28% reduction)</a:t>
            </a:r>
          </a:p>
        </p:txBody>
      </p:sp>
    </p:spTree>
    <p:extLst>
      <p:ext uri="{BB962C8B-B14F-4D97-AF65-F5344CB8AC3E}">
        <p14:creationId xmlns:p14="http://schemas.microsoft.com/office/powerpoint/2010/main" val="848156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FAE3F-6254-F8F9-293C-E43DD2E5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DC2D-66D1-2D44-5562-03872CA8C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</a:p>
        </p:txBody>
      </p:sp>
      <p:graphicFrame>
        <p:nvGraphicFramePr>
          <p:cNvPr id="3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5316768"/>
              </p:ext>
            </p:extLst>
          </p:nvPr>
        </p:nvGraphicFramePr>
        <p:xfrm>
          <a:off x="838199" y="1972275"/>
          <a:ext cx="81915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Daily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Annual kWh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Annual Cost ($0.12/kWh)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Fixed brightness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177.4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64,751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$7,770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Adaptive brightness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46,538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$5,585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18,213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$2,185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A1514FA-63C5-EA6B-F27D-A3A6D3AC73FE}"/>
              </a:ext>
            </a:extLst>
          </p:cNvPr>
          <p:cNvSpPr txBox="1"/>
          <p:nvPr/>
        </p:nvSpPr>
        <p:spPr>
          <a:xfrm>
            <a:off x="838199" y="1308262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Campus-Wide Energy Scenarios</a:t>
            </a:r>
          </a:p>
        </p:txBody>
      </p:sp>
    </p:spTree>
    <p:extLst>
      <p:ext uri="{BB962C8B-B14F-4D97-AF65-F5344CB8AC3E}">
        <p14:creationId xmlns:p14="http://schemas.microsoft.com/office/powerpoint/2010/main" val="575392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EEC8-5B87-23A5-F072-8118FA3FB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FC52-BC77-8C2F-3B3D-2E33A938C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E0A19-D90C-D978-8F5A-B433D3A38249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Per-Node Bill of Materials (BOM)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57507D-9EEF-0B1D-FB69-16AF0A601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357186"/>
              </p:ext>
            </p:extLst>
          </p:nvPr>
        </p:nvGraphicFramePr>
        <p:xfrm>
          <a:off x="838200" y="2172494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110494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1535249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900435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831555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 Cost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($)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0555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Raspberry Pi 4B (4GB)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267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MicroSD Card (64GB)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8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Commercial Display (43")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874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Arduino Mega 2560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488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HC-SR04 Sensors (3×)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3451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LDR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989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Emergency 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039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Cabling &amp; Enclosure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8946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Per-Node Total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432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305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462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34AE-D2F3-5036-8AE0-7578EC4D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761F-081E-E65E-5CF8-2A461804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0526F-7004-4320-A188-FD55B069B2BC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Campus-Wide Procurement (130 Nodes)</a:t>
            </a:r>
          </a:p>
        </p:txBody>
      </p:sp>
      <p:graphicFrame>
        <p:nvGraphicFramePr>
          <p:cNvPr id="10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4888"/>
              </p:ext>
            </p:extLst>
          </p:nvPr>
        </p:nvGraphicFramePr>
        <p:xfrm>
          <a:off x="838199" y="2021703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Cost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Edge Nodes (130 × $432)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56,160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Server (dual-NIC, 32GB RAM, 2TB SSD)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Network Infrastructure (switches, cabling)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UPS Units (server + switches)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Hardware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81,660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8959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853A-6304-BB64-A83A-1346D6D8B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DA927-3CD0-E72A-CCE9-B3ABAD203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F2BD1-026C-9CB7-C359-F089CEB3F175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5-Year Total Cost of Ownership (TCO) Comparison</a:t>
            </a:r>
          </a:p>
        </p:txBody>
      </p:sp>
      <p:graphicFrame>
        <p:nvGraphicFramePr>
          <p:cNvPr id="5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3306681"/>
              </p:ext>
            </p:extLst>
          </p:nvPr>
        </p:nvGraphicFramePr>
        <p:xfrm>
          <a:off x="939114" y="2043664"/>
          <a:ext cx="9440563" cy="3702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9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6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5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7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Hardware (5 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Software (5 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Energy (5 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Total (5 yr)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7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Yodeck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$81,660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$109,120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$38,850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$229,630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75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NoviSign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$81,660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$234,000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$38,850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$354,510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32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Rise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$81,660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$93,600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$38,850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$214,110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32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ScreenCloud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$81,660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$156,000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$38,850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$276,510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532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Our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$81,660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$27,930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 dirty="0"/>
                        <a:t>$109,590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145FEB-1C92-BA2F-9B6F-5E8E91DF382C}"/>
              </a:ext>
            </a:extLst>
          </p:cNvPr>
          <p:cNvSpPr txBox="1"/>
          <p:nvPr/>
        </p:nvSpPr>
        <p:spPr>
          <a:xfrm>
            <a:off x="939114" y="5992739"/>
            <a:ext cx="10414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Savings:</a:t>
            </a:r>
            <a:r>
              <a:rPr lang="en-US" sz="2000" dirty="0"/>
              <a:t> 46–70% TCO reduction compared to commercial alternatives</a:t>
            </a:r>
          </a:p>
        </p:txBody>
      </p:sp>
    </p:spTree>
    <p:extLst>
      <p:ext uri="{BB962C8B-B14F-4D97-AF65-F5344CB8AC3E}">
        <p14:creationId xmlns:p14="http://schemas.microsoft.com/office/powerpoint/2010/main" val="296921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B086F-D9BE-BA12-9397-EA554008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6FA5-B84B-638A-ECED-6BD3E47C9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 &amp;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60795-6CDC-1B67-21A3-C3BCDDB85D5C}"/>
              </a:ext>
            </a:extLst>
          </p:cNvPr>
          <p:cNvSpPr txBox="1"/>
          <p:nvPr/>
        </p:nvSpPr>
        <p:spPr>
          <a:xfrm>
            <a:off x="838200" y="1471306"/>
            <a:ext cx="106288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Backend Integration Testing (Jest + </a:t>
            </a:r>
            <a:r>
              <a:rPr lang="en-US" sz="2800" dirty="0" err="1"/>
              <a:t>Supertest</a:t>
            </a:r>
            <a:r>
              <a:rPr lang="en-US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Test Suite:</a:t>
            </a:r>
            <a:r>
              <a:rPr lang="en-US" sz="2800" dirty="0"/>
              <a:t> 30+ tests covering:</a:t>
            </a:r>
          </a:p>
          <a:p>
            <a:r>
              <a:rPr lang="en-US" sz="2800" dirty="0"/>
              <a:t>Frontend End-to-End Testing (Playwright)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	Test Suite:</a:t>
            </a:r>
            <a:r>
              <a:rPr lang="en-US" sz="2800" dirty="0"/>
              <a:t> 25 tests producing 55 screenshots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5E467F-1F9F-3CB3-1BDA-AA0AE7D0A77A}"/>
              </a:ext>
            </a:extLst>
          </p:cNvPr>
          <p:cNvSpPr txBox="1"/>
          <p:nvPr/>
        </p:nvSpPr>
        <p:spPr>
          <a:xfrm>
            <a:off x="939114" y="5992739"/>
            <a:ext cx="10414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Result:</a:t>
            </a:r>
            <a:r>
              <a:rPr lang="en-US" sz="2000" dirty="0"/>
              <a:t> All tests passing</a:t>
            </a:r>
          </a:p>
        </p:txBody>
      </p:sp>
    </p:spTree>
    <p:extLst>
      <p:ext uri="{BB962C8B-B14F-4D97-AF65-F5344CB8AC3E}">
        <p14:creationId xmlns:p14="http://schemas.microsoft.com/office/powerpoint/2010/main" val="34943690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96CB-26BD-20DF-0066-E956413F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E10E-2C37-2B32-910A-5B0FE415B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Results: Objectives Achievement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DCDD59DD-2294-E90A-5E7D-A4C8E214BA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59748"/>
              </p:ext>
            </p:extLst>
          </p:nvPr>
        </p:nvGraphicFramePr>
        <p:xfrm>
          <a:off x="395416" y="1371599"/>
          <a:ext cx="11417643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2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45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46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1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Embedded sensing layer with adaptive brightness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Arduino firmware verified; brightness adaptation tested end-to-end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1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Centralized CMS with RBAC and real-time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Admin/creator dashboards functional; 30+ backend tests passing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1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Live stream distribution at zero licensing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FFmpeg pipeline operational; Playwright E2E tests passing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31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Dual player architecture with per-device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✅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Device comparison table; content sync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31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Production-ready campus network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Network topology documented; </a:t>
                      </a:r>
                      <a:r>
                        <a:rPr dirty="0" err="1"/>
                        <a:t>nftables</a:t>
                      </a:r>
                      <a:r>
                        <a:rPr dirty="0"/>
                        <a:t> rules implemented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431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Emergency broadcast with hardware 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Physical button triggers playback; Socket.IO propagation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431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Concurrency control with deadlock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Control lock flow tested; 423 Locked HTTP response 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431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Automated testing and hardware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✅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Jest (30+ tests), Playwright (25 tests, 55 screenshots), hardware checklist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937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C080-BA82-FE2F-D9A6-60D3A5595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BA02C-803E-AFE4-DBF7-EF027CB50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1B91F-58BA-513C-B99A-78039D363DEB}"/>
              </a:ext>
            </a:extLst>
          </p:cNvPr>
          <p:cNvSpPr txBox="1"/>
          <p:nvPr/>
        </p:nvSpPr>
        <p:spPr>
          <a:xfrm>
            <a:off x="838200" y="1463335"/>
            <a:ext cx="830888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Key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Energy savings:</a:t>
            </a:r>
            <a:r>
              <a:rPr lang="en-US" sz="2400" dirty="0"/>
              <a:t> 28% per-node reduction through adaptive brightness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Campus-wide energy savings:</a:t>
            </a:r>
            <a:r>
              <a:rPr lang="en-US" sz="2400" dirty="0"/>
              <a:t> $2,185 annually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TCO reduction:</a:t>
            </a:r>
            <a:r>
              <a:rPr lang="en-US" sz="2400" dirty="0"/>
              <a:t> 46–70% compared to commercial alternatives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Test coverage:</a:t>
            </a:r>
            <a:r>
              <a:rPr lang="en-US" sz="2400" dirty="0"/>
              <a:t> 55 automated tests (backend + frontend E2E)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Hardware prototype:</a:t>
            </a:r>
            <a:r>
              <a:rPr lang="en-US" sz="2400" dirty="0"/>
              <a:t> Fully functional with real Arduino + Debian nodes</a:t>
            </a:r>
          </a:p>
        </p:txBody>
      </p:sp>
    </p:spTree>
    <p:extLst>
      <p:ext uri="{BB962C8B-B14F-4D97-AF65-F5344CB8AC3E}">
        <p14:creationId xmlns:p14="http://schemas.microsoft.com/office/powerpoint/2010/main" val="102944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D4C44-F137-5CD2-0890-1BB5D175B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7DFC0-5B84-86D0-89FB-26C657070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57D74-51B7-71AE-96D9-3F16AAAB2A05}"/>
              </a:ext>
            </a:extLst>
          </p:cNvPr>
          <p:cNvSpPr txBox="1"/>
          <p:nvPr/>
        </p:nvSpPr>
        <p:spPr>
          <a:xfrm>
            <a:off x="838199" y="1806456"/>
            <a:ext cx="9232557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P1: Energy Waste → Adaptive Brightness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P2: Disconnected Nodes → Centralized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P3: Security Gap → Device Token Authentication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P4: High TCO → Open-Source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8BC93A-9066-7D1F-A3B8-D5D305AFCCA7}"/>
              </a:ext>
            </a:extLst>
          </p:cNvPr>
          <p:cNvSpPr txBox="1"/>
          <p:nvPr/>
        </p:nvSpPr>
        <p:spPr>
          <a:xfrm>
            <a:off x="838199" y="127359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How the Problems Are Solved</a:t>
            </a:r>
          </a:p>
        </p:txBody>
      </p:sp>
    </p:spTree>
    <p:extLst>
      <p:ext uri="{BB962C8B-B14F-4D97-AF65-F5344CB8AC3E}">
        <p14:creationId xmlns:p14="http://schemas.microsoft.com/office/powerpoint/2010/main" val="32353093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A455-CA96-9E42-47D2-6D003981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69612-3487-62CE-CFDD-3628DB1B1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35" y="269458"/>
            <a:ext cx="10515600" cy="1325563"/>
          </a:xfrm>
        </p:spPr>
        <p:txBody>
          <a:bodyPr/>
          <a:lstStyle/>
          <a:p>
            <a:r>
              <a:rPr lang="en-US" b="1" dirty="0"/>
              <a:t>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7C6DE-4186-CA15-4498-0E881917665B}"/>
              </a:ext>
            </a:extLst>
          </p:cNvPr>
          <p:cNvSpPr txBox="1"/>
          <p:nvPr/>
        </p:nvSpPr>
        <p:spPr>
          <a:xfrm>
            <a:off x="513322" y="1826167"/>
            <a:ext cx="5735595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Physical Deployment Scale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Power Measurements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Mobile Responsiveness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Advanced Features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DD55C-CE2D-F645-50A7-6B1A56256D04}"/>
              </a:ext>
            </a:extLst>
          </p:cNvPr>
          <p:cNvSpPr txBox="1"/>
          <p:nvPr/>
        </p:nvSpPr>
        <p:spPr>
          <a:xfrm>
            <a:off x="779507" y="1256467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Out of Scope</a:t>
            </a:r>
          </a:p>
        </p:txBody>
      </p:sp>
    </p:spTree>
    <p:extLst>
      <p:ext uri="{BB962C8B-B14F-4D97-AF65-F5344CB8AC3E}">
        <p14:creationId xmlns:p14="http://schemas.microsoft.com/office/powerpoint/2010/main" val="803684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0D2F-F7A4-1BB5-3EDB-92B6F36EC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1F88-B247-DE46-39E0-2DDD6014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35" y="269458"/>
            <a:ext cx="10515600" cy="1325563"/>
          </a:xfrm>
        </p:spPr>
        <p:txBody>
          <a:bodyPr/>
          <a:lstStyle/>
          <a:p>
            <a:r>
              <a:rPr lang="en-US" b="1" dirty="0"/>
              <a:t>Future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4C275-A143-B0DE-CDA2-7288C4D996BA}"/>
              </a:ext>
            </a:extLst>
          </p:cNvPr>
          <p:cNvSpPr txBox="1"/>
          <p:nvPr/>
        </p:nvSpPr>
        <p:spPr>
          <a:xfrm>
            <a:off x="6250460" y="1710768"/>
            <a:ext cx="5735595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Physical Raspberry Pi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Per-Location Brightness Calibration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Mobile-Responsive Admin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Touch-Screen Kiosk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E57A5-0BC8-07A8-D05B-E28BBD080B7A}"/>
              </a:ext>
            </a:extLst>
          </p:cNvPr>
          <p:cNvSpPr txBox="1"/>
          <p:nvPr/>
        </p:nvSpPr>
        <p:spPr>
          <a:xfrm>
            <a:off x="514865" y="1253320"/>
            <a:ext cx="10628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Immediate Priorities (0–6 Months)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46198E-5290-A1E2-0F62-F13C567045F3}"/>
              </a:ext>
            </a:extLst>
          </p:cNvPr>
          <p:cNvSpPr txBox="1"/>
          <p:nvPr/>
        </p:nvSpPr>
        <p:spPr>
          <a:xfrm>
            <a:off x="304285" y="4134177"/>
            <a:ext cx="5735595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AI-Driven Predictive Content Scheduling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Predictive Maintenance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Campus Calendar Integration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Kubernetes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45DC2-AC97-8F1A-7914-38230C94CE84}"/>
              </a:ext>
            </a:extLst>
          </p:cNvPr>
          <p:cNvSpPr txBox="1"/>
          <p:nvPr/>
        </p:nvSpPr>
        <p:spPr>
          <a:xfrm>
            <a:off x="514865" y="3595568"/>
            <a:ext cx="678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Medium-Term Enhancements (6–18 Months)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B24C6-4A9F-A38B-F891-BE148606C474}"/>
              </a:ext>
            </a:extLst>
          </p:cNvPr>
          <p:cNvSpPr txBox="1"/>
          <p:nvPr/>
        </p:nvSpPr>
        <p:spPr>
          <a:xfrm>
            <a:off x="358347" y="1779687"/>
            <a:ext cx="5735595" cy="1569660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Federated Multi-Campus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Privacy-Preserving Occupancy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Edge Machine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F1B4F-FDE9-DB75-F393-5E784DEE46A2}"/>
              </a:ext>
            </a:extLst>
          </p:cNvPr>
          <p:cNvSpPr txBox="1"/>
          <p:nvPr/>
        </p:nvSpPr>
        <p:spPr>
          <a:xfrm>
            <a:off x="6370427" y="1250173"/>
            <a:ext cx="5615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Research Directions (18+ Months)</a:t>
            </a:r>
          </a:p>
        </p:txBody>
      </p:sp>
    </p:spTree>
    <p:extLst>
      <p:ext uri="{BB962C8B-B14F-4D97-AF65-F5344CB8AC3E}">
        <p14:creationId xmlns:p14="http://schemas.microsoft.com/office/powerpoint/2010/main" val="36069903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EFF49-F84B-7028-80EA-14E939FDF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E3A3-C8F3-3BED-9CDB-BB600966B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35" y="269458"/>
            <a:ext cx="10515600" cy="1325563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2032A-241D-4BFC-5736-5003912F5A39}"/>
              </a:ext>
            </a:extLst>
          </p:cNvPr>
          <p:cNvSpPr txBox="1"/>
          <p:nvPr/>
        </p:nvSpPr>
        <p:spPr>
          <a:xfrm>
            <a:off x="628135" y="1426361"/>
            <a:ext cx="109357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This capstone project presented the design, implementation, and validation of a </a:t>
            </a:r>
            <a:r>
              <a:rPr lang="en-US" sz="2400" b="1" dirty="0"/>
              <a:t>Smart Digital Signage System</a:t>
            </a:r>
            <a:r>
              <a:rPr lang="en-US" sz="2400" dirty="0"/>
              <a:t> that integrates:</a:t>
            </a:r>
          </a:p>
          <a:p>
            <a:pPr>
              <a:buNone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Environmental sensing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Role-based content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Real-time device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Live stream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Emergency broadcast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Security-hardened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Adaptive brightness control</a:t>
            </a:r>
          </a:p>
        </p:txBody>
      </p:sp>
    </p:spTree>
    <p:extLst>
      <p:ext uri="{BB962C8B-B14F-4D97-AF65-F5344CB8AC3E}">
        <p14:creationId xmlns:p14="http://schemas.microsoft.com/office/powerpoint/2010/main" val="22591890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684C-BB7B-710B-6480-2F8D13AF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9235929">
            <a:off x="3966583" y="2766217"/>
            <a:ext cx="4258833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279238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2422</Words>
  <Application>Microsoft Office PowerPoint</Application>
  <PresentationFormat>Widescreen</PresentationFormat>
  <Paragraphs>542</Paragraphs>
  <Slides>40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Aptos</vt:lpstr>
      <vt:lpstr>Arial</vt:lpstr>
      <vt:lpstr>Calibri</vt:lpstr>
      <vt:lpstr>Calibri Light</vt:lpstr>
      <vt:lpstr>Courier</vt:lpstr>
      <vt:lpstr>Times New Roman</vt:lpstr>
      <vt:lpstr>Wingdings</vt:lpstr>
      <vt:lpstr>Office Theme</vt:lpstr>
      <vt:lpstr>PowerPoint Presentation</vt:lpstr>
      <vt:lpstr>Abstract</vt:lpstr>
      <vt:lpstr>Introduction</vt:lpstr>
      <vt:lpstr>Project Scope</vt:lpstr>
      <vt:lpstr>Problem Statement</vt:lpstr>
      <vt:lpstr>Objectives</vt:lpstr>
      <vt:lpstr>Objectives</vt:lpstr>
      <vt:lpstr>Literature Review</vt:lpstr>
      <vt:lpstr>Literature Review</vt:lpstr>
      <vt:lpstr>Literature Review</vt:lpstr>
      <vt:lpstr>Methodology</vt:lpstr>
      <vt:lpstr>PowerPoint Presentation</vt:lpstr>
      <vt:lpstr>PowerPoint Presentation</vt:lpstr>
      <vt:lpstr>Hardware Implementation</vt:lpstr>
      <vt:lpstr>Cont…</vt:lpstr>
      <vt:lpstr>Hardware: Arduino Firmware</vt:lpstr>
      <vt:lpstr>Hardware: Adaptive Brightness Control</vt:lpstr>
      <vt:lpstr>Software Implementation: Overview</vt:lpstr>
      <vt:lpstr>Cont…</vt:lpstr>
      <vt:lpstr>Software: Backend Architecture</vt:lpstr>
      <vt:lpstr>Software: Frontend &amp; User Interface</vt:lpstr>
      <vt:lpstr>Network Architecture</vt:lpstr>
      <vt:lpstr>Network: Core Services &amp; Bandwidth</vt:lpstr>
      <vt:lpstr>Security Implementation</vt:lpstr>
      <vt:lpstr>Security Implementation</vt:lpstr>
      <vt:lpstr>Security Implementation</vt:lpstr>
      <vt:lpstr>Power Analysis</vt:lpstr>
      <vt:lpstr>Cont…</vt:lpstr>
      <vt:lpstr>Cont…</vt:lpstr>
      <vt:lpstr>Cost Analysis</vt:lpstr>
      <vt:lpstr>Cont…</vt:lpstr>
      <vt:lpstr>Cont…</vt:lpstr>
      <vt:lpstr>Testing &amp; Validation</vt:lpstr>
      <vt:lpstr>Results: Objectives Achievement</vt:lpstr>
      <vt:lpstr>Cont…</vt:lpstr>
      <vt:lpstr>Discussion</vt:lpstr>
      <vt:lpstr>Limitations</vt:lpstr>
      <vt:lpstr>Future Work</vt:lpstr>
      <vt:lpstr>Conclusion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 B.D.M.</dc:creator>
  <cp:lastModifiedBy>Deva B.D.M.</cp:lastModifiedBy>
  <cp:revision>16</cp:revision>
  <dcterms:created xsi:type="dcterms:W3CDTF">2025-12-08T21:47:28Z</dcterms:created>
  <dcterms:modified xsi:type="dcterms:W3CDTF">2026-05-30T05:54:28Z</dcterms:modified>
</cp:coreProperties>
</file>